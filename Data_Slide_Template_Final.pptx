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6"/>
  </p:notesMasterIdLst>
  <p:handoutMasterIdLst>
    <p:handoutMasterId r:id="rId7"/>
  </p:handoutMasterIdLst>
  <p:sldIdLst>
    <p:sldId id="338" r:id="rId5"/>
  </p:sldIdLst>
  <p:sldSz cx="12192000" cy="6858000"/>
  <p:notesSz cx="6950075" cy="9236075"/>
  <p:custShowLst>
    <p:custShow name="Format Guide Workshop" id="0">
      <p:sldLst/>
    </p:custShow>
  </p:custShowLst>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p:cViewPr varScale="1">
        <p:scale>
          <a:sx n="85" d="100"/>
          <a:sy n="85" d="100"/>
        </p:scale>
        <p:origin x="499" y="67"/>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Sethu\Downloads\Campaign_Data_Week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Sethu\Downloads\Campaign_Data_Week1.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[Campaign_Data_Week1.xlsx]Analysis!PivotTable1</c:name>
    <c:fmtId val="4"/>
  </c:pivotSource>
  <c:chart>
    <c:autoTitleDeleted val="1"/>
    <c:pivotFmts>
      <c:pivotFmt>
        <c:idx val="0"/>
        <c:spPr>
          <a:solidFill>
            <a:schemeClr val="accent2"/>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
        <c:spPr>
          <a:solidFill>
            <a:schemeClr val="accent2"/>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
        <c:spPr>
          <a:solidFill>
            <a:schemeClr val="accent2"/>
          </a:solidFill>
          <a:ln w="19050">
            <a:solidFill>
              <a:schemeClr val="lt1"/>
            </a:solidFill>
          </a:ln>
          <a:effectLst/>
        </c:spPr>
      </c:pivotFmt>
      <c:pivotFmt>
        <c:idx val="3"/>
        <c:spPr>
          <a:solidFill>
            <a:schemeClr val="accent2"/>
          </a:solidFill>
          <a:ln w="19050">
            <a:solidFill>
              <a:schemeClr val="lt1"/>
            </a:solidFill>
          </a:ln>
          <a:effectLst/>
        </c:spPr>
      </c:pivotFmt>
      <c:pivotFmt>
        <c:idx val="4"/>
        <c:spPr>
          <a:solidFill>
            <a:schemeClr val="accent2"/>
          </a:solidFill>
          <a:ln w="19050">
            <a:solidFill>
              <a:schemeClr val="lt1"/>
            </a:solidFill>
          </a:ln>
          <a:effectLst/>
        </c:spPr>
      </c:pivotFmt>
      <c:pivotFmt>
        <c:idx val="5"/>
        <c:spPr>
          <a:solidFill>
            <a:schemeClr val="accent2"/>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6"/>
        <c:spPr>
          <a:solidFill>
            <a:schemeClr val="accent2"/>
          </a:solidFill>
          <a:ln w="19050">
            <a:solidFill>
              <a:schemeClr val="lt1"/>
            </a:solidFill>
          </a:ln>
          <a:effectLst/>
        </c:spPr>
      </c:pivotFmt>
      <c:pivotFmt>
        <c:idx val="7"/>
        <c:spPr>
          <a:solidFill>
            <a:schemeClr val="accent2"/>
          </a:solidFill>
          <a:ln w="19050">
            <a:solidFill>
              <a:schemeClr val="lt1"/>
            </a:solidFill>
          </a:ln>
          <a:effectLst/>
        </c:spPr>
      </c:pivotFmt>
      <c:pivotFmt>
        <c:idx val="8"/>
        <c:spPr>
          <a:solidFill>
            <a:schemeClr val="accent2"/>
          </a:solidFill>
          <a:ln w="19050">
            <a:solidFill>
              <a:schemeClr val="lt1"/>
            </a:solidFill>
          </a:ln>
          <a:effectLst/>
        </c:spPr>
      </c:pivotFmt>
    </c:pivotFmts>
    <c:plotArea>
      <c:layout/>
      <c:pieChart>
        <c:varyColors val="1"/>
        <c:ser>
          <c:idx val="0"/>
          <c:order val="0"/>
          <c:tx>
            <c:strRef>
              <c:f>Analysis!$B$3</c:f>
              <c:strCache>
                <c:ptCount val="1"/>
                <c:pt idx="0">
                  <c:v>Total</c:v>
                </c:pt>
              </c:strCache>
            </c:strRef>
          </c:tx>
          <c:dPt>
            <c:idx val="0"/>
            <c:bubble3D val="0"/>
            <c:spPr>
              <a:solidFill>
                <a:schemeClr val="accent2">
                  <a:shade val="65000"/>
                </a:schemeClr>
              </a:solidFill>
              <a:ln w="19050">
                <a:solidFill>
                  <a:schemeClr val="lt1"/>
                </a:solidFill>
              </a:ln>
              <a:effectLst/>
            </c:spPr>
            <c:extLst>
              <c:ext xmlns:c16="http://schemas.microsoft.com/office/drawing/2014/chart" uri="{C3380CC4-5D6E-409C-BE32-E72D297353CC}">
                <c16:uniqueId val="{00000001-4D3E-4BE4-8461-D9376D1F3DB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D3E-4BE4-8461-D9376D1F3DBA}"/>
              </c:ext>
            </c:extLst>
          </c:dPt>
          <c:dPt>
            <c:idx val="2"/>
            <c:bubble3D val="0"/>
            <c:spPr>
              <a:solidFill>
                <a:schemeClr val="accent2">
                  <a:tint val="65000"/>
                </a:schemeClr>
              </a:solidFill>
              <a:ln w="19050">
                <a:solidFill>
                  <a:schemeClr val="lt1"/>
                </a:solidFill>
              </a:ln>
              <a:effectLst/>
            </c:spPr>
            <c:extLst>
              <c:ext xmlns:c16="http://schemas.microsoft.com/office/drawing/2014/chart" uri="{C3380CC4-5D6E-409C-BE32-E72D297353CC}">
                <c16:uniqueId val="{00000005-4D3E-4BE4-8461-D9376D1F3DBA}"/>
              </c:ext>
            </c:extLst>
          </c:dPt>
          <c:dLbls>
            <c:dLbl>
              <c:idx val="0"/>
              <c:layout>
                <c:manualLayout>
                  <c:x val="-0.24339909677274713"/>
                  <c:y val="4.0597470090333369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4D3E-4BE4-8461-D9376D1F3DBA}"/>
                </c:ext>
              </c:extLst>
            </c:dLbl>
            <c:dLbl>
              <c:idx val="1"/>
              <c:layout>
                <c:manualLayout>
                  <c:x val="0.21125204625559182"/>
                  <c:y val="-0.12225053034441129"/>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24104393659256451"/>
                      <c:h val="0.17601760395809349"/>
                    </c:manualLayout>
                  </c15:layout>
                </c:ext>
                <c:ext xmlns:c16="http://schemas.microsoft.com/office/drawing/2014/chart" uri="{C3380CC4-5D6E-409C-BE32-E72D297353CC}">
                  <c16:uniqueId val="{00000003-4D3E-4BE4-8461-D9376D1F3DBA}"/>
                </c:ext>
              </c:extLst>
            </c:dLbl>
            <c:dLbl>
              <c:idx val="2"/>
              <c:layout>
                <c:manualLayout>
                  <c:x val="0.15155038100944632"/>
                  <c:y val="0.2029873504516668"/>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4D3E-4BE4-8461-D9376D1F3DBA}"/>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Analysis!$A$4:$A$7</c:f>
              <c:strCache>
                <c:ptCount val="3"/>
                <c:pt idx="0">
                  <c:v>Email</c:v>
                </c:pt>
                <c:pt idx="1">
                  <c:v>Instagram</c:v>
                </c:pt>
                <c:pt idx="2">
                  <c:v>Web Banner</c:v>
                </c:pt>
              </c:strCache>
            </c:strRef>
          </c:cat>
          <c:val>
            <c:numRef>
              <c:f>Analysis!$B$4:$B$7</c:f>
              <c:numCache>
                <c:formatCode>_-[$$-409]* #,##0.00_ ;_-[$$-409]* \-#,##0.00\ ;_-[$$-409]* "-"??_ ;_-@_ </c:formatCode>
                <c:ptCount val="3"/>
                <c:pt idx="0">
                  <c:v>7909.3100000000049</c:v>
                </c:pt>
                <c:pt idx="1">
                  <c:v>3873.4100000000003</c:v>
                </c:pt>
                <c:pt idx="2">
                  <c:v>2876.8800000000006</c:v>
                </c:pt>
              </c:numCache>
            </c:numRef>
          </c:val>
          <c:extLst>
            <c:ext xmlns:c16="http://schemas.microsoft.com/office/drawing/2014/chart" uri="{C3380CC4-5D6E-409C-BE32-E72D297353CC}">
              <c16:uniqueId val="{00000006-4D3E-4BE4-8461-D9376D1F3DBA}"/>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836267395499599"/>
          <c:y val="5.4973833321068831E-2"/>
          <c:w val="0.79478205418772718"/>
          <c:h val="0.77993860402666604"/>
        </c:manualLayout>
      </c:layout>
      <c:barChart>
        <c:barDir val="col"/>
        <c:grouping val="clustered"/>
        <c:varyColors val="0"/>
        <c:ser>
          <c:idx val="0"/>
          <c:order val="0"/>
          <c:tx>
            <c:strRef>
              <c:f>'Analysis (2)'!$A$25</c:f>
              <c:strCache>
                <c:ptCount val="1"/>
                <c:pt idx="0">
                  <c:v>Campaign A</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cat>
            <c:strRef>
              <c:f>'Analysis (2)'!$B$24:$C$24</c:f>
              <c:strCache>
                <c:ptCount val="2"/>
                <c:pt idx="0">
                  <c:v>New  Customer Sales ($)</c:v>
                </c:pt>
                <c:pt idx="1">
                  <c:v>Total Sales ($)</c:v>
                </c:pt>
              </c:strCache>
            </c:strRef>
          </c:cat>
          <c:val>
            <c:numRef>
              <c:f>'Analysis (2)'!$B$25:$C$25</c:f>
              <c:numCache>
                <c:formatCode>_-[$$-409]* #,##0_ ;_-[$$-409]* \-#,##0\ ;_-[$$-409]* "-"??_ ;_-@_ </c:formatCode>
                <c:ptCount val="2"/>
                <c:pt idx="0">
                  <c:v>3726.9900000000002</c:v>
                </c:pt>
                <c:pt idx="1">
                  <c:v>5869.5600000000031</c:v>
                </c:pt>
              </c:numCache>
            </c:numRef>
          </c:val>
          <c:extLst>
            <c:ext xmlns:c16="http://schemas.microsoft.com/office/drawing/2014/chart" uri="{C3380CC4-5D6E-409C-BE32-E72D297353CC}">
              <c16:uniqueId val="{00000000-0A49-4987-914C-C7F6D6D21A14}"/>
            </c:ext>
          </c:extLst>
        </c:ser>
        <c:ser>
          <c:idx val="1"/>
          <c:order val="1"/>
          <c:tx>
            <c:strRef>
              <c:f>'Analysis (2)'!$A$26</c:f>
              <c:strCache>
                <c:ptCount val="1"/>
                <c:pt idx="0">
                  <c:v>Campaign B</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'Analysis (2)'!$B$24:$C$24</c:f>
              <c:strCache>
                <c:ptCount val="2"/>
                <c:pt idx="0">
                  <c:v>New  Customer Sales ($)</c:v>
                </c:pt>
                <c:pt idx="1">
                  <c:v>Total Sales ($)</c:v>
                </c:pt>
              </c:strCache>
            </c:strRef>
          </c:cat>
          <c:val>
            <c:numRef>
              <c:f>'Analysis (2)'!$B$26:$C$26</c:f>
              <c:numCache>
                <c:formatCode>_-[$$-409]* #,##0_ ;_-[$$-409]* \-#,##0\ ;_-[$$-409]* "-"??_ ;_-@_ </c:formatCode>
                <c:ptCount val="2"/>
                <c:pt idx="0">
                  <c:v>2117.44</c:v>
                </c:pt>
                <c:pt idx="1">
                  <c:v>8790.0400000000045</c:v>
                </c:pt>
              </c:numCache>
            </c:numRef>
          </c:val>
          <c:extLst>
            <c:ext xmlns:c16="http://schemas.microsoft.com/office/drawing/2014/chart" uri="{C3380CC4-5D6E-409C-BE32-E72D297353CC}">
              <c16:uniqueId val="{00000001-0A49-4987-914C-C7F6D6D21A14}"/>
            </c:ext>
          </c:extLst>
        </c:ser>
        <c:dLbls>
          <c:dLblPos val="outEnd"/>
          <c:showLegendKey val="0"/>
          <c:showVal val="1"/>
          <c:showCatName val="0"/>
          <c:showSerName val="0"/>
          <c:showPercent val="0"/>
          <c:showBubbleSize val="0"/>
        </c:dLbls>
        <c:gapWidth val="219"/>
        <c:overlap val="-27"/>
        <c:axId val="548411408"/>
        <c:axId val="1272597488"/>
      </c:barChart>
      <c:catAx>
        <c:axId val="548411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2597488"/>
        <c:crosses val="autoZero"/>
        <c:auto val="1"/>
        <c:lblAlgn val="ctr"/>
        <c:lblOffset val="100"/>
        <c:noMultiLvlLbl val="0"/>
      </c:catAx>
      <c:valAx>
        <c:axId val="1272597488"/>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Sales</a:t>
                </a:r>
                <a:r>
                  <a:rPr lang="en-IN" baseline="0"/>
                  <a:t> ($)</a:t>
                </a:r>
                <a:endParaRPr lang="en-IN"/>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_-[$$-409]* #,##0_ ;_-[$$-409]* \-#,##0\ ;_-[$$-409]* &quot;-&quot;??_ ;_-@_ " sourceLinked="1"/>
        <c:majorTickMark val="none"/>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crossAx val="54841140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[Campaign_Data_Week1.xlsx]Analysis (2)!PivotTable5</c:name>
    <c:fmtId val="8"/>
  </c:pivotSource>
  <c:chart>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
        <c:idx val="3"/>
        <c:spPr>
          <a:solidFill>
            <a:schemeClr val="accent1"/>
          </a:solidFill>
          <a:ln>
            <a:noFill/>
          </a:ln>
          <a:effectLst/>
        </c:spPr>
        <c:marker>
          <c:symbol val="none"/>
        </c:marker>
      </c:pivotFmt>
      <c:pivotFmt>
        <c:idx val="4"/>
        <c:spPr>
          <a:solidFill>
            <a:schemeClr val="accent1"/>
          </a:solidFill>
          <a:ln>
            <a:noFill/>
          </a:ln>
          <a:effectLst/>
        </c:spPr>
        <c:marker>
          <c:symbol val="none"/>
        </c:marker>
      </c:pivotFmt>
      <c:pivotFmt>
        <c:idx val="5"/>
        <c:spPr>
          <a:solidFill>
            <a:schemeClr val="accent1"/>
          </a:solidFill>
          <a:ln>
            <a:noFill/>
          </a:ln>
          <a:effectLst/>
        </c:spPr>
        <c:marker>
          <c:symbol val="none"/>
        </c:marker>
      </c:pivotFmt>
    </c:pivotFmts>
    <c:plotArea>
      <c:layout/>
      <c:barChart>
        <c:barDir val="col"/>
        <c:grouping val="stacked"/>
        <c:varyColors val="0"/>
        <c:ser>
          <c:idx val="0"/>
          <c:order val="0"/>
          <c:tx>
            <c:strRef>
              <c:f>'Analysis (2)'!$L$11:$L$12</c:f>
              <c:strCache>
                <c:ptCount val="1"/>
                <c:pt idx="0">
                  <c:v>Campaign A</c:v>
                </c:pt>
              </c:strCache>
            </c:strRef>
          </c:tx>
          <c:spPr>
            <a:solidFill>
              <a:schemeClr val="accent1"/>
            </a:solidFill>
            <a:ln>
              <a:noFill/>
            </a:ln>
            <a:effectLst/>
          </c:spPr>
          <c:invertIfNegative val="0"/>
          <c:cat>
            <c:strRef>
              <c:f>'Analysis (2)'!$K$13:$K$16</c:f>
              <c:strCache>
                <c:ptCount val="3"/>
                <c:pt idx="0">
                  <c:v>Email</c:v>
                </c:pt>
                <c:pt idx="1">
                  <c:v>Instagram</c:v>
                </c:pt>
                <c:pt idx="2">
                  <c:v>Web Banner</c:v>
                </c:pt>
              </c:strCache>
            </c:strRef>
          </c:cat>
          <c:val>
            <c:numRef>
              <c:f>'Analysis (2)'!$L$13:$L$16</c:f>
              <c:numCache>
                <c:formatCode>General</c:formatCode>
                <c:ptCount val="3"/>
                <c:pt idx="0">
                  <c:v>2124.4700000000003</c:v>
                </c:pt>
                <c:pt idx="1">
                  <c:v>969.46</c:v>
                </c:pt>
                <c:pt idx="2">
                  <c:v>633.06000000000006</c:v>
                </c:pt>
              </c:numCache>
            </c:numRef>
          </c:val>
          <c:extLst>
            <c:ext xmlns:c16="http://schemas.microsoft.com/office/drawing/2014/chart" uri="{C3380CC4-5D6E-409C-BE32-E72D297353CC}">
              <c16:uniqueId val="{00000000-5C72-4FE6-A64B-5C765F251A19}"/>
            </c:ext>
          </c:extLst>
        </c:ser>
        <c:ser>
          <c:idx val="1"/>
          <c:order val="1"/>
          <c:tx>
            <c:strRef>
              <c:f>'Analysis (2)'!$M$11:$M$12</c:f>
              <c:strCache>
                <c:ptCount val="1"/>
                <c:pt idx="0">
                  <c:v>Campaign B</c:v>
                </c:pt>
              </c:strCache>
            </c:strRef>
          </c:tx>
          <c:spPr>
            <a:solidFill>
              <a:schemeClr val="accent2"/>
            </a:solidFill>
            <a:ln>
              <a:noFill/>
            </a:ln>
            <a:effectLst/>
          </c:spPr>
          <c:invertIfNegative val="0"/>
          <c:cat>
            <c:strRef>
              <c:f>'Analysis (2)'!$K$13:$K$16</c:f>
              <c:strCache>
                <c:ptCount val="3"/>
                <c:pt idx="0">
                  <c:v>Email</c:v>
                </c:pt>
                <c:pt idx="1">
                  <c:v>Instagram</c:v>
                </c:pt>
                <c:pt idx="2">
                  <c:v>Web Banner</c:v>
                </c:pt>
              </c:strCache>
            </c:strRef>
          </c:cat>
          <c:val>
            <c:numRef>
              <c:f>'Analysis (2)'!$M$13:$M$16</c:f>
              <c:numCache>
                <c:formatCode>General</c:formatCode>
                <c:ptCount val="3"/>
                <c:pt idx="0">
                  <c:v>1382.3799999999999</c:v>
                </c:pt>
                <c:pt idx="1">
                  <c:v>416.14</c:v>
                </c:pt>
                <c:pt idx="2">
                  <c:v>318.92000000000007</c:v>
                </c:pt>
              </c:numCache>
            </c:numRef>
          </c:val>
          <c:extLst>
            <c:ext xmlns:c16="http://schemas.microsoft.com/office/drawing/2014/chart" uri="{C3380CC4-5D6E-409C-BE32-E72D297353CC}">
              <c16:uniqueId val="{00000001-5C72-4FE6-A64B-5C765F251A19}"/>
            </c:ext>
          </c:extLst>
        </c:ser>
        <c:dLbls>
          <c:showLegendKey val="0"/>
          <c:showVal val="0"/>
          <c:showCatName val="0"/>
          <c:showSerName val="0"/>
          <c:showPercent val="0"/>
          <c:showBubbleSize val="0"/>
        </c:dLbls>
        <c:gapWidth val="150"/>
        <c:overlap val="100"/>
        <c:axId val="603530512"/>
        <c:axId val="1261160640"/>
      </c:barChart>
      <c:catAx>
        <c:axId val="6035305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61160640"/>
        <c:crosses val="autoZero"/>
        <c:auto val="1"/>
        <c:lblAlgn val="ctr"/>
        <c:lblOffset val="100"/>
        <c:noMultiLvlLbl val="0"/>
      </c:catAx>
      <c:valAx>
        <c:axId val="126116064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0353051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4/15/2026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4/15/2026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4.xml"/><Relationship Id="rId7" Type="http://schemas.openxmlformats.org/officeDocument/2006/relationships/oleObject" Target="../embeddings/oleObject2.bin"/><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slideMaster" Target="../slideMasters/slideMaster1.xml"/><Relationship Id="rId5" Type="http://schemas.openxmlformats.org/officeDocument/2006/relationships/tags" Target="../tags/tag6.xml"/><Relationship Id="rId10" Type="http://schemas.openxmlformats.org/officeDocument/2006/relationships/image" Target="../media/image4.jpg"/><Relationship Id="rId4" Type="http://schemas.openxmlformats.org/officeDocument/2006/relationships/tags" Target="../tags/tag5.xml"/><Relationship Id="rId9"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18.xml"/><Relationship Id="rId7" Type="http://schemas.openxmlformats.org/officeDocument/2006/relationships/image" Target="../media/image8.png"/><Relationship Id="rId2" Type="http://schemas.openxmlformats.org/officeDocument/2006/relationships/tags" Target="../tags/tag17.xml"/><Relationship Id="rId1" Type="http://schemas.openxmlformats.org/officeDocument/2006/relationships/vmlDrawing" Target="../drawings/vmlDrawing3.vml"/><Relationship Id="rId6" Type="http://schemas.openxmlformats.org/officeDocument/2006/relationships/image" Target="../media/image7.emf"/><Relationship Id="rId5" Type="http://schemas.openxmlformats.org/officeDocument/2006/relationships/oleObject" Target="../embeddings/oleObject3.bin"/><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6.xml"/><Relationship Id="rId1" Type="http://schemas.openxmlformats.org/officeDocument/2006/relationships/vmlDrawing" Target="../drawings/vmlDrawing4.vml"/><Relationship Id="rId6" Type="http://schemas.openxmlformats.org/officeDocument/2006/relationships/image" Target="../media/image9.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tags" Target="../tags/tag32.xml"/><Relationship Id="rId7" Type="http://schemas.openxmlformats.org/officeDocument/2006/relationships/image" Target="../media/image2.emf"/><Relationship Id="rId2" Type="http://schemas.openxmlformats.org/officeDocument/2006/relationships/tags" Target="../tags/tag31.xml"/><Relationship Id="rId1" Type="http://schemas.openxmlformats.org/officeDocument/2006/relationships/vmlDrawing" Target="../drawings/vmlDrawing5.vml"/><Relationship Id="rId6" Type="http://schemas.openxmlformats.org/officeDocument/2006/relationships/oleObject" Target="../embeddings/oleObject4.bin"/><Relationship Id="rId5" Type="http://schemas.openxmlformats.org/officeDocument/2006/relationships/slideMaster" Target="../slideMasters/slideMaster1.xml"/><Relationship Id="rId4" Type="http://schemas.openxmlformats.org/officeDocument/2006/relationships/tags" Target="../tags/tag33.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36.xml"/><Relationship Id="rId7" Type="http://schemas.openxmlformats.org/officeDocument/2006/relationships/oleObject" Target="../embeddings/oleObject5.bin"/><Relationship Id="rId2" Type="http://schemas.openxmlformats.org/officeDocument/2006/relationships/tags" Target="../tags/tag35.xml"/><Relationship Id="rId1" Type="http://schemas.openxmlformats.org/officeDocument/2006/relationships/vmlDrawing" Target="../drawings/vmlDrawing6.vml"/><Relationship Id="rId6" Type="http://schemas.openxmlformats.org/officeDocument/2006/relationships/slideMaster" Target="../slideMasters/slideMaster1.xml"/><Relationship Id="rId5" Type="http://schemas.openxmlformats.org/officeDocument/2006/relationships/tags" Target="../tags/tag38.xml"/><Relationship Id="rId10" Type="http://schemas.openxmlformats.org/officeDocument/2006/relationships/image" Target="../media/image4.jpg"/><Relationship Id="rId4" Type="http://schemas.openxmlformats.org/officeDocument/2006/relationships/tags" Target="../tags/tag37.xml"/><Relationship Id="rId9"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tags" Target="../tags/tag49.xml"/><Relationship Id="rId7" Type="http://schemas.openxmlformats.org/officeDocument/2006/relationships/image" Target="../media/image5.png"/><Relationship Id="rId2" Type="http://schemas.openxmlformats.org/officeDocument/2006/relationships/tags" Target="../tags/tag48.xml"/><Relationship Id="rId1" Type="http://schemas.openxmlformats.org/officeDocument/2006/relationships/vmlDrawing" Target="../drawings/vmlDrawing7.vml"/><Relationship Id="rId6" Type="http://schemas.openxmlformats.org/officeDocument/2006/relationships/image" Target="../media/image7.emf"/><Relationship Id="rId5" Type="http://schemas.openxmlformats.org/officeDocument/2006/relationships/oleObject" Target="../embeddings/oleObject3.bin"/><Relationship Id="rId4"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9.xml"/><Relationship Id="rId1" Type="http://schemas.openxmlformats.org/officeDocument/2006/relationships/vmlDrawing" Target="../drawings/vmlDrawing8.vml"/><Relationship Id="rId6" Type="http://schemas.openxmlformats.org/officeDocument/2006/relationships/image" Target="../media/image9.png"/><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tags" Target="../tags/tag66.xml"/><Relationship Id="rId7" Type="http://schemas.openxmlformats.org/officeDocument/2006/relationships/image" Target="../media/image2.emf"/><Relationship Id="rId2" Type="http://schemas.openxmlformats.org/officeDocument/2006/relationships/tags" Target="../tags/tag65.xml"/><Relationship Id="rId1" Type="http://schemas.openxmlformats.org/officeDocument/2006/relationships/vmlDrawing" Target="../drawings/vmlDrawing9.vml"/><Relationship Id="rId6" Type="http://schemas.openxmlformats.org/officeDocument/2006/relationships/oleObject" Target="../embeddings/oleObject6.bin"/><Relationship Id="rId5" Type="http://schemas.openxmlformats.org/officeDocument/2006/relationships/slideMaster" Target="../slideMasters/slideMaster1.xml"/><Relationship Id="rId4" Type="http://schemas.openxmlformats.org/officeDocument/2006/relationships/tags" Target="../tags/tag67.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vmlDrawing" Target="../drawings/vmlDrawing10.vml"/><Relationship Id="rId6" Type="http://schemas.openxmlformats.org/officeDocument/2006/relationships/image" Target="../media/image1.emf"/><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1.xml"/><Relationship Id="rId1" Type="http://schemas.openxmlformats.org/officeDocument/2006/relationships/vmlDrawing" Target="../drawings/vmlDrawing11.vml"/><Relationship Id="rId5" Type="http://schemas.openxmlformats.org/officeDocument/2006/relationships/image" Target="../media/image1.emf"/><Relationship Id="rId4" Type="http://schemas.openxmlformats.org/officeDocument/2006/relationships/oleObject" Target="../embeddings/oleObject8.bin"/></Relationships>
</file>

<file path=ppt/slideLayouts/_rels/slideLayout6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2.xml"/><Relationship Id="rId1" Type="http://schemas.openxmlformats.org/officeDocument/2006/relationships/vmlDrawing" Target="../drawings/vmlDrawing12.vml"/><Relationship Id="rId5" Type="http://schemas.openxmlformats.org/officeDocument/2006/relationships/image" Target="../media/image1.emf"/><Relationship Id="rId4" Type="http://schemas.openxmlformats.org/officeDocument/2006/relationships/oleObject" Target="../embeddings/oleObject9.bin"/></Relationships>
</file>

<file path=ppt/slideLayouts/_rels/slideLayout62.xml.rels><?xml version="1.0" encoding="UTF-8" standalone="yes"?>
<Relationships xmlns="http://schemas.openxmlformats.org/package/2006/relationships"><Relationship Id="rId3" Type="http://schemas.openxmlformats.org/officeDocument/2006/relationships/tags" Target="../tags/tag74.xml"/><Relationship Id="rId7" Type="http://schemas.openxmlformats.org/officeDocument/2006/relationships/image" Target="../media/image3.png"/><Relationship Id="rId2" Type="http://schemas.openxmlformats.org/officeDocument/2006/relationships/tags" Target="../tags/tag73.xml"/><Relationship Id="rId1" Type="http://schemas.openxmlformats.org/officeDocument/2006/relationships/vmlDrawing" Target="../drawings/vmlDrawing13.vml"/><Relationship Id="rId6" Type="http://schemas.openxmlformats.org/officeDocument/2006/relationships/image" Target="../media/image1.emf"/><Relationship Id="rId5" Type="http://schemas.openxmlformats.org/officeDocument/2006/relationships/oleObject" Target="../embeddings/oleObject10.bin"/><Relationship Id="rId4"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vmlDrawing" Target="../drawings/vmlDrawing14.vml"/><Relationship Id="rId6" Type="http://schemas.openxmlformats.org/officeDocument/2006/relationships/image" Target="../media/image1.emf"/><Relationship Id="rId5" Type="http://schemas.openxmlformats.org/officeDocument/2006/relationships/oleObject" Target="../embeddings/oleObject11.bin"/><Relationship Id="rId4"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7.xml"/><Relationship Id="rId1" Type="http://schemas.openxmlformats.org/officeDocument/2006/relationships/vmlDrawing" Target="../drawings/vmlDrawing15.vml"/><Relationship Id="rId5" Type="http://schemas.openxmlformats.org/officeDocument/2006/relationships/image" Target="../media/image1.emf"/><Relationship Id="rId4" Type="http://schemas.openxmlformats.org/officeDocument/2006/relationships/oleObject" Target="../embeddings/oleObject12.bin"/></Relationships>
</file>

<file path=ppt/slideLayouts/_rels/slideLayout6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8.xml"/><Relationship Id="rId1" Type="http://schemas.openxmlformats.org/officeDocument/2006/relationships/vmlDrawing" Target="../drawings/vmlDrawing16.vml"/><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66.xml.rels><?xml version="1.0" encoding="UTF-8" standalone="yes"?>
<Relationships xmlns="http://schemas.openxmlformats.org/package/2006/relationships"><Relationship Id="rId3" Type="http://schemas.openxmlformats.org/officeDocument/2006/relationships/tags" Target="../tags/tag80.xml"/><Relationship Id="rId7" Type="http://schemas.openxmlformats.org/officeDocument/2006/relationships/image" Target="../media/image3.png"/><Relationship Id="rId2" Type="http://schemas.openxmlformats.org/officeDocument/2006/relationships/tags" Target="../tags/tag79.xml"/><Relationship Id="rId1" Type="http://schemas.openxmlformats.org/officeDocument/2006/relationships/vmlDrawing" Target="../drawings/vmlDrawing17.vml"/><Relationship Id="rId6" Type="http://schemas.openxmlformats.org/officeDocument/2006/relationships/image" Target="../media/image1.emf"/><Relationship Id="rId5" Type="http://schemas.openxmlformats.org/officeDocument/2006/relationships/oleObject" Target="../embeddings/oleObject14.bin"/><Relationship Id="rId4"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1.xml"/><Relationship Id="rId1" Type="http://schemas.openxmlformats.org/officeDocument/2006/relationships/vmlDrawing" Target="../drawings/vmlDrawing18.v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15.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6" name="think-cell Slide" r:id="rId7" imgW="384" imgH="384" progId="TCLayout.ActiveDocument.1">
                  <p:embed/>
                </p:oleObj>
              </mc:Choice>
              <mc:Fallback>
                <p:oleObj name="think-cell Slide" r:id="rId7" imgW="384" imgH="384" progId="TCLayout.ActiveDocument.1">
                  <p:embed/>
                  <p:pic>
                    <p:nvPicPr>
                      <p:cNvPr id="0" name=""/>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9">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4"/>
            </p:custDataLst>
          </p:nvPr>
        </p:nvPicPr>
        <p:blipFill rotWithShape="1">
          <a:blip r:embed="rId10">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5"/>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080" name="think-cell Slide" r:id="rId5" imgW="324" imgH="324" progId="TCLayout.ActiveDocument.1">
                  <p:embed/>
                </p:oleObj>
              </mc:Choice>
              <mc:Fallback>
                <p:oleObj name="think-cell Slide" r:id="rId5" imgW="324" imgH="32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104"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6">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5128"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3"/>
            </p:custDataLst>
          </p:nvPr>
        </p:nvPicPr>
        <p:blipFill>
          <a:blip r:embed="rId8">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4"/>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152" name="think-cell Slide" r:id="rId7" imgW="384" imgH="384" progId="TCLayout.ActiveDocument.1">
                  <p:embed/>
                </p:oleObj>
              </mc:Choice>
              <mc:Fallback>
                <p:oleObj name="think-cell Slide" r:id="rId7" imgW="384" imgH="384" progId="TCLayout.ActiveDocument.1">
                  <p:embed/>
                  <p:pic>
                    <p:nvPicPr>
                      <p:cNvPr id="0" name=""/>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9">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4"/>
            </p:custDataLst>
          </p:nvPr>
        </p:nvPicPr>
        <p:blipFill rotWithShape="1">
          <a:blip r:embed="rId10">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5"/>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176" name="think-cell Slide" r:id="rId5" imgW="324" imgH="324" progId="TCLayout.ActiveDocument.1">
                  <p:embed/>
                </p:oleObj>
              </mc:Choice>
              <mc:Fallback>
                <p:oleObj name="think-cell Slide" r:id="rId5" imgW="324" imgH="32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200" name="think-cell Slide" r:id="rId4" imgW="384" imgH="384" progId="TCLayout.ActiveDocument.1">
                  <p:embed/>
                </p:oleObj>
              </mc:Choice>
              <mc:Fallback>
                <p:oleObj name="think-cell Slide" r:id="rId4" imgW="384" imgH="38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6">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224"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3"/>
            </p:custDataLst>
          </p:nvPr>
        </p:nvPicPr>
        <p:blipFill>
          <a:blip r:embed="rId8">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4"/>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248" name="think-cell Slide" r:id="rId5" imgW="270" imgH="270" progId="TCLayout.ActiveDocument.1">
                  <p:embed/>
                </p:oleObj>
              </mc:Choice>
              <mc:Fallback>
                <p:oleObj name="think-cell Slide" r:id="rId5" imgW="270" imgH="270" progId="TCLayout.ActiveDocument.1">
                  <p:embed/>
                  <p:pic>
                    <p:nvPicPr>
                      <p:cNvPr id="3" name="Object 2"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3"/>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1272"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296"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320" name="think-cell Slide" r:id="rId5" imgW="270" imgH="270" progId="TCLayout.ActiveDocument.1">
                  <p:embed/>
                </p:oleObj>
              </mc:Choice>
              <mc:Fallback>
                <p:oleObj name="think-cell Slide" r:id="rId5" imgW="270" imgH="27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4344" name="think-cell Slide" r:id="rId5" imgW="270" imgH="270" progId="TCLayout.ActiveDocument.1">
                  <p:embed/>
                </p:oleObj>
              </mc:Choice>
              <mc:Fallback>
                <p:oleObj name="think-cell Slide" r:id="rId5" imgW="270" imgH="27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3"/>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5368"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6392"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7416" name="think-cell Slide" r:id="rId5" imgW="270" imgH="270" progId="TCLayout.ActiveDocument.1">
                  <p:embed/>
                </p:oleObj>
              </mc:Choice>
              <mc:Fallback>
                <p:oleObj name="think-cell Slide" r:id="rId5" imgW="270" imgH="27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8440"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vmlDrawing" Target="../drawings/vmlDrawing1.v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70"/>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32" name="think-cell Slide" r:id="rId71" imgW="270" imgH="270" progId="TCLayout.ActiveDocument.1">
                  <p:embed/>
                </p:oleObj>
              </mc:Choice>
              <mc:Fallback>
                <p:oleObj name="think-cell Slide" r:id="rId71" imgW="270" imgH="270" progId="TCLayout.ActiveDocument.1">
                  <p:embed/>
                  <p:pic>
                    <p:nvPicPr>
                      <p:cNvPr id="0" name=""/>
                      <p:cNvPicPr/>
                      <p:nvPr/>
                    </p:nvPicPr>
                    <p:blipFill>
                      <a:blip r:embed="rId72"/>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tags" Target="../tags/tag83.xml"/><Relationship Id="rId7" Type="http://schemas.openxmlformats.org/officeDocument/2006/relationships/image" Target="../media/image10.emf"/><Relationship Id="rId12" Type="http://schemas.openxmlformats.org/officeDocument/2006/relationships/chart" Target="../charts/chart3.xml"/><Relationship Id="rId2" Type="http://schemas.openxmlformats.org/officeDocument/2006/relationships/tags" Target="../tags/tag82.xml"/><Relationship Id="rId1" Type="http://schemas.openxmlformats.org/officeDocument/2006/relationships/vmlDrawing" Target="../drawings/vmlDrawing19.vml"/><Relationship Id="rId6" Type="http://schemas.openxmlformats.org/officeDocument/2006/relationships/oleObject" Target="../embeddings/oleObject16.bin"/><Relationship Id="rId11" Type="http://schemas.openxmlformats.org/officeDocument/2006/relationships/chart" Target="../charts/chart2.xml"/><Relationship Id="rId5" Type="http://schemas.openxmlformats.org/officeDocument/2006/relationships/slideLayout" Target="../slideLayouts/slideLayout2.xml"/><Relationship Id="rId10" Type="http://schemas.openxmlformats.org/officeDocument/2006/relationships/chart" Target="../charts/chart1.xml"/><Relationship Id="rId4" Type="http://schemas.openxmlformats.org/officeDocument/2006/relationships/tags" Target="../tags/tag84.xml"/><Relationship Id="rId9" Type="http://schemas.openxmlformats.org/officeDocument/2006/relationships/image" Target="../media/image11.e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9474" name="think-cell Slide" r:id="rId6" imgW="286" imgH="286" progId="TCLayout.ActiveDocument.1">
                  <p:embed/>
                </p:oleObj>
              </mc:Choice>
              <mc:Fallback>
                <p:oleObj name="think-cell Slide" r:id="rId6"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04233E-D808-43F8-E8D2-630EBED07FDB}"/>
              </a:ext>
            </a:extLst>
          </p:cNvPr>
          <p:cNvSpPr>
            <a:spLocks noGrp="1"/>
          </p:cNvSpPr>
          <p:nvPr>
            <p:ph type="title"/>
          </p:nvPr>
        </p:nvSpPr>
        <p:spPr>
          <a:xfrm>
            <a:off x="630000" y="622800"/>
            <a:ext cx="10933200" cy="387798"/>
          </a:xfrm>
        </p:spPr>
        <p:txBody>
          <a:bodyPr anchor="t"/>
          <a:lstStyle/>
          <a:p>
            <a:r>
              <a:rPr lang="en-GB" sz="2800" dirty="0">
                <a:latin typeface="Calibri" panose="020F0502020204030204" pitchFamily="34" charset="0"/>
                <a:ea typeface="Calibri" panose="020F0502020204030204" pitchFamily="34" charset="0"/>
                <a:cs typeface="Calibri" panose="020F0502020204030204" pitchFamily="34" charset="0"/>
              </a:rPr>
              <a:t>Campaign A via Email Drove the Highest New Customer Sales</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77E036F-AF50-32A5-AA87-4A97F3F6A88D}"/>
              </a:ext>
            </a:extLst>
          </p:cNvPr>
          <p:cNvSpPr/>
          <p:nvPr/>
        </p:nvSpPr>
        <p:spPr>
          <a:xfrm>
            <a:off x="641671" y="5371165"/>
            <a:ext cx="10933200" cy="957888"/>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GB" sz="1600" b="1" dirty="0">
                <a:solidFill>
                  <a:srgbClr val="000000"/>
                </a:solidFill>
                <a:latin typeface="Calibri" panose="020F0502020204030204" pitchFamily="34" charset="0"/>
                <a:ea typeface="Calibri" panose="020F0502020204030204" pitchFamily="34" charset="0"/>
                <a:cs typeface="Calibri" panose="020F0502020204030204" pitchFamily="34" charset="0"/>
              </a:rPr>
              <a:t>Recommendation: </a:t>
            </a:r>
            <a:r>
              <a:rPr lang="en-GB" sz="1400" b="1" dirty="0">
                <a:solidFill>
                  <a:srgbClr val="000000"/>
                </a:solidFill>
                <a:latin typeface="Calibri" panose="020F0502020204030204" pitchFamily="34" charset="0"/>
                <a:ea typeface="Calibri" panose="020F0502020204030204" pitchFamily="34" charset="0"/>
                <a:cs typeface="Calibri" panose="020F0502020204030204" pitchFamily="34" charset="0"/>
              </a:rPr>
              <a:t>Prioritize Campaign A via Email to Drive New Customer Growth</a:t>
            </a:r>
          </a:p>
          <a:p>
            <a:pPr marL="171450" indent="-171450">
              <a:buFont typeface="Arial" panose="020B0604020202020204" pitchFamily="34" charset="0"/>
              <a:buChar char="•"/>
            </a:pPr>
            <a:r>
              <a:rPr lang="en-GB" sz="1200" dirty="0">
                <a:solidFill>
                  <a:srgbClr val="000000"/>
                </a:solidFill>
                <a:latin typeface="Calibri" panose="020F0502020204030204" pitchFamily="34" charset="0"/>
                <a:ea typeface="Calibri" panose="020F0502020204030204" pitchFamily="34" charset="0"/>
                <a:cs typeface="Calibri" panose="020F0502020204030204" pitchFamily="34" charset="0"/>
              </a:rPr>
              <a:t>Campaign A consistently outperformed Campaign B in driving new customer purchases, especially through the Email channel. </a:t>
            </a:r>
          </a:p>
          <a:p>
            <a:pPr marL="171450" indent="-171450">
              <a:buFont typeface="Arial" panose="020B0604020202020204" pitchFamily="34" charset="0"/>
              <a:buChar char="•"/>
            </a:pPr>
            <a:r>
              <a:rPr lang="en-GB" sz="1200" dirty="0">
                <a:solidFill>
                  <a:srgbClr val="000000"/>
                </a:solidFill>
                <a:latin typeface="Calibri" panose="020F0502020204030204" pitchFamily="34" charset="0"/>
                <a:ea typeface="Calibri" panose="020F0502020204030204" pitchFamily="34" charset="0"/>
                <a:cs typeface="Calibri" panose="020F0502020204030204" pitchFamily="34" charset="0"/>
              </a:rPr>
              <a:t>This combination offers the best ROI for acquisition-focused campaign.</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942B0D30-68D6-1748-728E-7FA73A5976EC}"/>
              </a:ext>
            </a:extLst>
          </p:cNvPr>
          <p:cNvSpPr/>
          <p:nvPr/>
        </p:nvSpPr>
        <p:spPr>
          <a:xfrm>
            <a:off x="811334" y="1646327"/>
            <a:ext cx="2328814" cy="461665"/>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200" b="1" dirty="0">
                <a:solidFill>
                  <a:srgbClr val="21BF61"/>
                </a:solidFill>
                <a:latin typeface="Calibri" panose="020F0502020204030204" pitchFamily="34" charset="0"/>
                <a:ea typeface="Calibri" panose="020F0502020204030204" pitchFamily="34" charset="0"/>
                <a:cs typeface="Calibri" panose="020F0502020204030204" pitchFamily="34" charset="0"/>
              </a:rPr>
              <a:t>Email Was the Top-Performing Channel by Total Sales</a:t>
            </a:r>
            <a:endParaRPr lang="en-US" sz="1200" b="1" dirty="0">
              <a:solidFill>
                <a:srgbClr val="21BF61"/>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3"/>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spid="_x0000_s19475" name="think-cell Slide" r:id="rId8" imgW="270" imgH="270" progId="TCLayout.ActiveDocument.1">
                  <p:embed/>
                </p:oleObj>
              </mc:Choice>
              <mc:Fallback>
                <p:oleObj name="think-cell Slide" r:id="rId8"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9"/>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F3373025-70F2-206E-C2A9-CF622E9D0E06}"/>
              </a:ext>
            </a:extLst>
          </p:cNvPr>
          <p:cNvSpPr/>
          <p:nvPr>
            <p:custDataLst>
              <p:tags r:id="rId4"/>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a:extLst>
              <a:ext uri="{FF2B5EF4-FFF2-40B4-BE49-F238E27FC236}">
                <a16:creationId xmlns:a16="http://schemas.microsoft.com/office/drawing/2014/main" id="{E9B0969E-E6A1-262E-0D0C-27C4EB66645E}"/>
              </a:ext>
            </a:extLst>
          </p:cNvPr>
          <p:cNvSpPr/>
          <p:nvPr/>
        </p:nvSpPr>
        <p:spPr>
          <a:xfrm>
            <a:off x="695959" y="212497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51" name="Rectangle 50">
            <a:extLst>
              <a:ext uri="{FF2B5EF4-FFF2-40B4-BE49-F238E27FC236}">
                <a16:creationId xmlns:a16="http://schemas.microsoft.com/office/drawing/2014/main" id="{BF4368DF-6E20-14F0-6E67-1E1CD9E7A1F1}"/>
              </a:ext>
            </a:extLst>
          </p:cNvPr>
          <p:cNvSpPr/>
          <p:nvPr/>
        </p:nvSpPr>
        <p:spPr>
          <a:xfrm>
            <a:off x="4152757" y="216356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52" name="Rectangle 51">
            <a:extLst>
              <a:ext uri="{FF2B5EF4-FFF2-40B4-BE49-F238E27FC236}">
                <a16:creationId xmlns:a16="http://schemas.microsoft.com/office/drawing/2014/main" id="{E2B2A643-298F-D571-396A-2AD97701D1C3}"/>
              </a:ext>
            </a:extLst>
          </p:cNvPr>
          <p:cNvSpPr/>
          <p:nvPr/>
        </p:nvSpPr>
        <p:spPr>
          <a:xfrm>
            <a:off x="7476125" y="2155067"/>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53" name="Rectangle 52">
            <a:extLst>
              <a:ext uri="{FF2B5EF4-FFF2-40B4-BE49-F238E27FC236}">
                <a16:creationId xmlns:a16="http://schemas.microsoft.com/office/drawing/2014/main" id="{B52E5477-8A78-817E-6DEC-CF5CD1757B04}"/>
              </a:ext>
            </a:extLst>
          </p:cNvPr>
          <p:cNvSpPr/>
          <p:nvPr/>
        </p:nvSpPr>
        <p:spPr>
          <a:xfrm>
            <a:off x="4304343" y="1646327"/>
            <a:ext cx="2328814" cy="461665"/>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200" b="1" dirty="0">
                <a:solidFill>
                  <a:srgbClr val="21BF61"/>
                </a:solidFill>
                <a:latin typeface="Calibri" panose="020F0502020204030204" pitchFamily="34" charset="0"/>
                <a:ea typeface="Calibri" panose="020F0502020204030204" pitchFamily="34" charset="0"/>
                <a:cs typeface="Calibri" panose="020F0502020204030204" pitchFamily="34" charset="0"/>
              </a:rPr>
              <a:t>Campaign A Excelled with New Customers</a:t>
            </a:r>
            <a:endParaRPr lang="en-US" sz="1200" b="1" dirty="0">
              <a:solidFill>
                <a:srgbClr val="21BF61"/>
              </a:solidFill>
              <a:latin typeface="Calibri" panose="020F0502020204030204" pitchFamily="34" charset="0"/>
              <a:ea typeface="Calibri" panose="020F0502020204030204" pitchFamily="34" charset="0"/>
              <a:cs typeface="Calibri" panose="020F0502020204030204" pitchFamily="34" charset="0"/>
            </a:endParaRPr>
          </a:p>
        </p:txBody>
      </p:sp>
      <p:sp>
        <p:nvSpPr>
          <p:cNvPr id="54" name="Rectangle 53">
            <a:extLst>
              <a:ext uri="{FF2B5EF4-FFF2-40B4-BE49-F238E27FC236}">
                <a16:creationId xmlns:a16="http://schemas.microsoft.com/office/drawing/2014/main" id="{AC2F7AF7-DC76-6C1A-0458-2264EDF24BF9}"/>
              </a:ext>
            </a:extLst>
          </p:cNvPr>
          <p:cNvSpPr/>
          <p:nvPr/>
        </p:nvSpPr>
        <p:spPr>
          <a:xfrm>
            <a:off x="7622972" y="1553994"/>
            <a:ext cx="2328814" cy="646331"/>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200" b="1" dirty="0">
                <a:solidFill>
                  <a:srgbClr val="21BF61"/>
                </a:solidFill>
                <a:latin typeface="Calibri" panose="020F0502020204030204" pitchFamily="34" charset="0"/>
                <a:ea typeface="Calibri" panose="020F0502020204030204" pitchFamily="34" charset="0"/>
                <a:cs typeface="Calibri" panose="020F0502020204030204" pitchFamily="34" charset="0"/>
              </a:rPr>
              <a:t>Campaign A Outperformed B Across All Channels for New Customers</a:t>
            </a:r>
            <a:endParaRPr lang="en-US" sz="1200" b="1" dirty="0">
              <a:solidFill>
                <a:srgbClr val="21BF6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DA3175F1-F880-FD13-5347-0D98BDB0DD10}"/>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latin typeface="Calibri" panose="020F0502020204030204" pitchFamily="34" charset="0"/>
              <a:ea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481B1DE6-2CDC-940C-8490-377786C3D30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5" name="Chart 14">
            <a:extLst>
              <a:ext uri="{FF2B5EF4-FFF2-40B4-BE49-F238E27FC236}">
                <a16:creationId xmlns:a16="http://schemas.microsoft.com/office/drawing/2014/main" id="{313A796D-EC23-4B16-9AC2-0DD64E3E48CF}"/>
              </a:ext>
            </a:extLst>
          </p:cNvPr>
          <p:cNvGraphicFramePr>
            <a:graphicFrameLocks/>
          </p:cNvGraphicFramePr>
          <p:nvPr>
            <p:extLst>
              <p:ext uri="{D42A27DB-BD31-4B8C-83A1-F6EECF244321}">
                <p14:modId xmlns:p14="http://schemas.microsoft.com/office/powerpoint/2010/main" val="1930913532"/>
              </p:ext>
            </p:extLst>
          </p:nvPr>
        </p:nvGraphicFramePr>
        <p:xfrm>
          <a:off x="695959" y="2163569"/>
          <a:ext cx="2765417" cy="2502619"/>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19" name="Chart 18">
            <a:extLst>
              <a:ext uri="{FF2B5EF4-FFF2-40B4-BE49-F238E27FC236}">
                <a16:creationId xmlns:a16="http://schemas.microsoft.com/office/drawing/2014/main" id="{F4A06ED1-9AEC-4942-ADF4-51156E8D8F1D}"/>
              </a:ext>
            </a:extLst>
          </p:cNvPr>
          <p:cNvGraphicFramePr>
            <a:graphicFrameLocks/>
          </p:cNvGraphicFramePr>
          <p:nvPr>
            <p:extLst>
              <p:ext uri="{D42A27DB-BD31-4B8C-83A1-F6EECF244321}">
                <p14:modId xmlns:p14="http://schemas.microsoft.com/office/powerpoint/2010/main" val="1196448415"/>
              </p:ext>
            </p:extLst>
          </p:nvPr>
        </p:nvGraphicFramePr>
        <p:xfrm>
          <a:off x="4152757" y="2259390"/>
          <a:ext cx="2911431" cy="2541209"/>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21" name="Chart 20">
            <a:extLst>
              <a:ext uri="{FF2B5EF4-FFF2-40B4-BE49-F238E27FC236}">
                <a16:creationId xmlns:a16="http://schemas.microsoft.com/office/drawing/2014/main" id="{69278335-B06D-4D00-A807-E89AA5EAB49E}"/>
              </a:ext>
            </a:extLst>
          </p:cNvPr>
          <p:cNvGraphicFramePr>
            <a:graphicFrameLocks/>
          </p:cNvGraphicFramePr>
          <p:nvPr>
            <p:extLst>
              <p:ext uri="{D42A27DB-BD31-4B8C-83A1-F6EECF244321}">
                <p14:modId xmlns:p14="http://schemas.microsoft.com/office/powerpoint/2010/main" val="817986171"/>
              </p:ext>
            </p:extLst>
          </p:nvPr>
        </p:nvGraphicFramePr>
        <p:xfrm>
          <a:off x="7476124" y="2155066"/>
          <a:ext cx="2765418" cy="2555565"/>
        </p:xfrm>
        <a:graphic>
          <a:graphicData uri="http://schemas.openxmlformats.org/drawingml/2006/chart">
            <c:chart xmlns:c="http://schemas.openxmlformats.org/drawingml/2006/chart" xmlns:r="http://schemas.openxmlformats.org/officeDocument/2006/relationships" r:id="rId12"/>
          </a:graphicData>
        </a:graphic>
      </p:graphicFrame>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customXml/itemProps2.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0D9CDD6-302A-4910-894A-79BA7510E5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BCG Grid 16:9</Template>
  <TotalTime>524</TotalTime>
  <Words>85</Words>
  <Application>Microsoft Office PowerPoint</Application>
  <PresentationFormat>Widescreen</PresentationFormat>
  <Paragraphs>11</Paragraphs>
  <Slides>1</Slides>
  <Notes>0</Notes>
  <HiddenSlides>0</HiddenSlides>
  <MMClips>0</MMClips>
  <ScaleCrop>false</ScaleCrop>
  <HeadingPairs>
    <vt:vector size="10"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vt:i4>
      </vt:variant>
      <vt:variant>
        <vt:lpstr>Custom Shows</vt:lpstr>
      </vt:variant>
      <vt:variant>
        <vt:i4>1</vt:i4>
      </vt:variant>
    </vt:vector>
  </HeadingPairs>
  <TitlesOfParts>
    <vt:vector size="7" baseType="lpstr">
      <vt:lpstr>Arial</vt:lpstr>
      <vt:lpstr>Calibri</vt:lpstr>
      <vt:lpstr>Trebuchet MS</vt:lpstr>
      <vt:lpstr>BCG Grid 16:9</vt:lpstr>
      <vt:lpstr>think-cell Slide</vt:lpstr>
      <vt:lpstr>Campaign A via Email Drove the Highest New Customer Sales</vt:lpstr>
      <vt:lpstr>Format Guide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Title]</dc:title>
  <dc:creator>Scobee, Kyle</dc:creator>
  <cp:lastModifiedBy>Sethuraman B</cp:lastModifiedBy>
  <cp:revision>13</cp:revision>
  <cp:lastPrinted>2016-04-06T18:59:25Z</cp:lastPrinted>
  <dcterms:created xsi:type="dcterms:W3CDTF">2025-04-28T17:07:03Z</dcterms:created>
  <dcterms:modified xsi:type="dcterms:W3CDTF">2026-04-14T18:51:06Z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